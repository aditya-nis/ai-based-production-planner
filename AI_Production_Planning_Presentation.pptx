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06B6D4"/>
                </a:solidFill>
              </a:defRPr>
            </a:pPr>
            <a:r>
              <a:t>ARTIFICIAL INTELLIGENCE MINI-PROJECT DEFENSE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AI-Based Production &amp; Resource Planning</a:t>
            </a:r>
          </a:p>
          <a:p>
            <a:pPr>
              <a:spcAft>
                <a:spcPts val="2800"/>
              </a:spcAft>
              <a:defRPr sz="2000">
                <a:solidFill>
                  <a:srgbClr val="94A3B8"/>
                </a:solidFill>
              </a:defRPr>
            </a:pPr>
            <a:r>
              <a:t>Constraint Satisfaction Based Intelligent Production Scheduling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Algorithm: Recursive Backtracking Search  •  Heuristic: Minimum Remaining Values (MRV)  •  Engine: Python / Flask /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 &amp; Industrial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The Industrial Challenge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Manufacturing shops manage shared high-value machinery, certified operators, and raw materials.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Traditional planning relies on manual Gantt charts or heuristic spreadsheets.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Combinatorial Explosion: For N tasks and D time-resource slots, the state space scales exponentially as O(D^N).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Result: Idle machine bottlenecks, operator conflicts, stockouts, and delayed product deliveries.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The AI Solution: Constraint Satisfaction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Constraint Satisfaction Problem (CSP) provides a formal declarative AI framework.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Instead of random trial-and-error, mathematical logic eliminates invalid states immediately.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MRV Heuristic (Minimum Remaining Values) enforces 'fail-first' variable selection.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Guarantees 100% adherence to all hard constraints with mathematically proven zero-overlap schedules.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Common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C2626"/>
                </a:solidFill>
              </a:defRPr>
            </a:pPr>
            <a:r>
              <a:t>1. Resource Overlap Conflicts: </a:t>
            </a:r>
            <a:r>
              <a:rPr b="0" sz="1300">
                <a:solidFill>
                  <a:srgbClr val="1E293B"/>
                </a:solidFill>
              </a:rPr>
              <a:t>Two distinct manufacturing jobs assigned to the exact same machine or operator at overlapping timestamps.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C2626"/>
                </a:solidFill>
              </a:defRPr>
            </a:pPr>
            <a:r>
              <a:t>2. Skill Incompatibility: </a:t>
            </a:r>
            <a:r>
              <a:rPr b="0" sz="1300">
                <a:solidFill>
                  <a:srgbClr val="1E293B"/>
                </a:solidFill>
              </a:rPr>
              <a:t>A task assigned to a technician who lacks the required certified machine qualification or process expertise.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C2626"/>
                </a:solidFill>
              </a:defRPr>
            </a:pPr>
            <a:r>
              <a:t>3. Daily Shift &amp; Capacity Breaches: </a:t>
            </a:r>
            <a:r>
              <a:rPr b="0" sz="1300">
                <a:solidFill>
                  <a:srgbClr val="1E293B"/>
                </a:solidFill>
              </a:rPr>
              <a:t>Exceeding allowable machine running hours or violating statutory operator shift durations.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59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C2626"/>
                </a:solidFill>
              </a:defRPr>
            </a:pPr>
            <a:r>
              <a:t>4. Raw Material Stockouts: </a:t>
            </a:r>
            <a:r>
              <a:rPr b="0" sz="1300">
                <a:solidFill>
                  <a:srgbClr val="1E293B"/>
                </a:solidFill>
              </a:rPr>
              <a:t>Authorizing production orders when requisite component inventory is insufficient in warehouse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C2626"/>
                </a:solidFill>
              </a:defRPr>
            </a:pPr>
            <a:r>
              <a:t>5. Missed Delivery Deadlines: </a:t>
            </a:r>
            <a:r>
              <a:rPr b="0" sz="1300">
                <a:solidFill>
                  <a:srgbClr val="1E293B"/>
                </a:solidFill>
              </a:rPr>
              <a:t>Production finishing after agreed customer delivery deadlines, incurring substantial financial penalties.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2563EB"/>
                </a:solidFill>
              </a:defRPr>
            </a:pPr>
            <a:r>
              <a:t>Formal AI Formulation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Model factory planning as a formal CSP tuple &lt;X, D, C&gt; with variables, domains, and 10 hard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2563EB"/>
                </a:solidFill>
              </a:defRPr>
            </a:pPr>
            <a:r>
              <a:t>Backtracking Search with MRV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Implement a recursive backtracking engine in Python with Minimum Remaining Values heuristic and forward checking.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2563EB"/>
                </a:solidFill>
              </a:defRPr>
            </a:pPr>
            <a:r>
              <a:t>Live Database Integration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Extract parameters directly from SQLite (Products, Machines, Workers, Materials) without hardcoded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15468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2563EB"/>
                </a:solidFill>
              </a:defRPr>
            </a:pPr>
            <a:r>
              <a:t>Explainable AI (XAI)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Generate step-by-step reasoning justifications for every assignment and actionable conflict diagnostics when unsolvable.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2563EB"/>
                </a:solidFill>
              </a:defRPr>
            </a:pPr>
            <a:r>
              <a:t>Dynamic Rescheduling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Support automated schedule recalculation when machines enter maintenance or personnel take leave.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6634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2563EB"/>
                </a:solidFill>
              </a:defRPr>
            </a:pPr>
            <a:r>
              <a:t>Interactive Web Dashboard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Deliver a responsive web interface (Flask, Bootstrap 5, Chart.js) with KPI cards, charts, and CSV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Constraint Satisfaction Problem (CSP)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Mathematical CSP Formalization: Triple  &lt; X , D , C &gt;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 consistent assignment maps each variable to a domain value without violating any constraint.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4747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Variables ( X )</a:t>
            </a:r>
          </a:p>
          <a:p>
            <a:pPr>
              <a:spcAft>
                <a:spcPts val="800"/>
              </a:spcAft>
              <a:defRPr b="1" sz="1100">
                <a:solidFill>
                  <a:srgbClr val="64748B"/>
                </a:solidFill>
              </a:defRPr>
            </a:pPr>
            <a:r>
              <a:t>Discrete Production Tasks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Each batch unit is modeled as an independent variable: X = {T_1, T_2, ..., T_n}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Carries attributes: Product ID, Task Duration (hours), Priority (High/Medium/Low), Deadline, Machine Type, Required Skill, Material ID, Material Quantity.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651760"/>
            <a:ext cx="34747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Domains ( D )</a:t>
            </a:r>
          </a:p>
          <a:p>
            <a:pPr>
              <a:spcAft>
                <a:spcPts val="800"/>
              </a:spcAft>
              <a:defRPr b="1" sz="1100">
                <a:solidFill>
                  <a:srgbClr val="64748B"/>
                </a:solidFill>
              </a:defRPr>
            </a:pPr>
            <a:r>
              <a:t>Cartesian Value Combinations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Domain space: D(T_i) = {(m, w, start, end)}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 ∈ Compatible Machines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w ∈ Qualified Workers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[start, end] ∈ Shift Window (08:00 - 17:00 in discrete 1-hour increments matching task duration).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651760"/>
            <a:ext cx="34747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Constraints ( C )</a:t>
            </a:r>
          </a:p>
          <a:p>
            <a:pPr>
              <a:spcAft>
                <a:spcPts val="800"/>
              </a:spcAft>
              <a:defRPr b="1" sz="1100">
                <a:solidFill>
                  <a:srgbClr val="64748B"/>
                </a:solidFill>
              </a:defRPr>
            </a:pPr>
            <a:r>
              <a:t>10 Hard Logical Constraints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Relations restricting permissible simultaneous value assignments.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Includes temporal non-overlap, machine technical compatibility, operator skills, daily shift capacities, material inventory, and deadlines.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10 Hard Constraints Enforced by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1. Machine Non-Overlap: </a:t>
            </a:r>
            <a:r>
              <a:rPr b="0" sz="1100">
                <a:solidFill>
                  <a:srgbClr val="1E293B"/>
                </a:solidFill>
              </a:rPr>
              <a:t>No machine processes two jobs at the same time: [start_A, end_A) ∩ [start_B, end_B) = 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2. Worker Non-Overlap: </a:t>
            </a:r>
            <a:r>
              <a:rPr b="0" sz="1100">
                <a:solidFill>
                  <a:srgbClr val="1E293B"/>
                </a:solidFill>
              </a:rPr>
              <a:t>No worker operates two jobs simultaneously: [start_A, end_A) ∩ [start_B, end_B) = 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3. Machine Compatibility: </a:t>
            </a:r>
            <a:r>
              <a:rPr b="0" sz="1100">
                <a:solidFill>
                  <a:srgbClr val="1E293B"/>
                </a:solidFill>
              </a:rPr>
              <a:t>Assigned machine type must strictly match product requirements (Assembly, Cutting, Drilling).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5603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4. Worker Qualification: </a:t>
            </a:r>
            <a:r>
              <a:rPr b="0" sz="1100">
                <a:solidFill>
                  <a:srgbClr val="1E293B"/>
                </a:solidFill>
              </a:rPr>
              <a:t>Assigned operator must possess the verified skill required for that specific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5. Machine Capacity Limit: </a:t>
            </a:r>
            <a:r>
              <a:rPr b="0" sz="1100">
                <a:solidFill>
                  <a:srgbClr val="1E293B"/>
                </a:solidFill>
              </a:rPr>
              <a:t>Total accumulated operational hours on any machine cannot exceed available hours (8h/day).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4747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6. Worker Shift Limit: </a:t>
            </a:r>
            <a:r>
              <a:rPr b="0" sz="1100">
                <a:solidFill>
                  <a:srgbClr val="1E293B"/>
                </a:solidFill>
              </a:rPr>
              <a:t>Total assigned operational hours for any worker cannot exceed shift availability (8h/day).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7. Material Availability: </a:t>
            </a:r>
            <a:r>
              <a:rPr b="0" sz="1100">
                <a:solidFill>
                  <a:srgbClr val="1E293B"/>
                </a:solidFill>
              </a:rPr>
              <a:t>Warehouse inventory of required raw materials must be sufficient before scheduling.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3891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8. Production Deadline: </a:t>
            </a:r>
            <a:r>
              <a:rPr b="0" sz="1100">
                <a:solidFill>
                  <a:srgbClr val="1E293B"/>
                </a:solidFill>
              </a:rPr>
              <a:t>Job completion timestamp must be earlier than or equal to the scheduled deadline (End &lt;= Deadline).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9. Machine Active Status: </a:t>
            </a:r>
            <a:r>
              <a:rPr b="0" sz="1100">
                <a:solidFill>
                  <a:srgbClr val="1E293B"/>
                </a:solidFill>
              </a:rPr>
              <a:t>Machines marked as 'Maintenance' or 'Unavailable' are excluded from all variable domains.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5303520"/>
            <a:ext cx="52578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DC2626"/>
                </a:solidFill>
              </a:defRPr>
            </a:pPr>
            <a:r>
              <a:t>10. Worker Active Status: </a:t>
            </a:r>
            <a:r>
              <a:rPr b="0" sz="1100">
                <a:solidFill>
                  <a:srgbClr val="1E293B"/>
                </a:solidFill>
              </a:rPr>
              <a:t>Workers marked as 'Leave' or 'Unavailable' are excluded from all variable domains.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Backtracking Algorithm &amp; MRV Heuristic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2563EB"/>
                </a:solidFill>
              </a:defRPr>
            </a:pPr>
            <a:r>
              <a:t>MRV (Minimum Remaining Values)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Core Philosophy: 'Fail-First' Principle.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Algorithm inspects all unassigned variables and evaluates legal domain counts.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Selects the variable with the fewest remaining legal choices.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Concrete Example:</a:t>
            </a:r>
            <a:br/>
            <a:r>
              <a:t>  • Task A → 5 legal slots</a:t>
            </a:r>
            <a:br/>
            <a:r>
              <a:t>  • Task B → 2 legal slots</a:t>
            </a:r>
            <a:br/>
            <a:r>
              <a:t>  • Task C → 7 legal slots</a:t>
            </a:r>
            <a:br/>
            <a:r>
              <a:t>  ⇒ MRV selects Task B first!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Tie-breaking: Priority ordering (High &gt; Medium &gt; Low) followed by earliest deadline.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10B981"/>
                </a:solidFill>
              </a:defRPr>
            </a:pPr>
            <a:r>
              <a:t>Recursive Backtracking with Forward Checking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1. Base Case: If all variables assigned, return schedule solution.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2. Select Variable: Pick unassigned variable using MRV.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3. Order Values: Sort domain values by earliest start time.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4. Validate Constraints: Evaluate check_all_constraints().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5. Forward Checking: If valid, check whether assignment wipes out remaining legal values of any downstream task. If domain = ∅, backtrack immediately.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6. Recurse &amp; Backtrack: If recursive branch fails, undo assignment and increment backtrack counter.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7. Fail Diagnostic: If search tree exhausted, trigger root-cause conflict analyzer.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Execution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1. Input Data  ➔  </a:t>
            </a:r>
            <a:r>
              <a:rPr b="0" sz="1200">
                <a:solidFill>
                  <a:srgbClr val="1E293B"/>
                </a:solidFill>
              </a:rPr>
              <a:t>Fetch Products, Machines, Workers, Materials from 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450592"/>
            <a:ext cx="99669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2. CSP Model  ➔  </a:t>
            </a:r>
            <a:r>
              <a:rPr b="0" sz="1200">
                <a:solidFill>
                  <a:srgbClr val="1E293B"/>
                </a:solidFill>
              </a:rPr>
              <a:t>Instantiate CSPVariable objects &amp; compute Cartesian 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55264"/>
            <a:ext cx="99669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9333EA"/>
                </a:solidFill>
              </a:defRPr>
            </a:pPr>
            <a:r>
              <a:t>3. MRV Heuristic  ➔  </a:t>
            </a:r>
            <a:r>
              <a:rPr b="0" sz="1200">
                <a:solidFill>
                  <a:srgbClr val="1E293B"/>
                </a:solidFill>
              </a:rPr>
              <a:t>Select unassigned task with minimum remaining legal domain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059936"/>
            <a:ext cx="99669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C2626"/>
                </a:solidFill>
              </a:defRPr>
            </a:pPr>
            <a:r>
              <a:t>4. Check Constraints  ➔  </a:t>
            </a:r>
            <a:r>
              <a:rPr b="0" sz="1200">
                <a:solidFill>
                  <a:srgbClr val="1E293B"/>
                </a:solidFill>
              </a:rPr>
              <a:t>Evaluate all 10 hard constraints via check_all_constraints()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864608"/>
            <a:ext cx="99669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EA580C"/>
                </a:solidFill>
              </a:defRPr>
            </a:pPr>
            <a:r>
              <a:t>5. Forward Check  ➔  </a:t>
            </a:r>
            <a:r>
              <a:rPr b="0" sz="1200">
                <a:solidFill>
                  <a:srgbClr val="1E293B"/>
                </a:solidFill>
              </a:rPr>
              <a:t>Ensure no downstream task suffers domain wipeout (Domain = 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669280"/>
            <a:ext cx="996696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6. Solution / Reschedule  ➔  </a:t>
            </a:r>
            <a:r>
              <a:rPr b="0" sz="1200">
                <a:solidFill>
                  <a:srgbClr val="1E293B"/>
                </a:solidFill>
              </a:rPr>
              <a:t>Persist Schedule &amp; Audit Logs to SQLite / Generate Conflict Diagnostics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&amp; Modular Code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Python 3</a:t>
            </a:r>
          </a:p>
          <a:p>
            <a:pPr>
              <a:spcAft>
                <a:spcPts val="600"/>
              </a:spcAft>
              <a:defRPr b="1" sz="1100">
                <a:solidFill>
                  <a:srgbClr val="64748B"/>
                </a:solidFill>
              </a:defRPr>
            </a:pPr>
            <a:r>
              <a:t>Core Language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Implements pure AI search algorithms, backtracking recursion, constraint logic, and MRV heuristics without external heavy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Flask 3 &amp; Werkzeug</a:t>
            </a:r>
          </a:p>
          <a:p>
            <a:pPr>
              <a:spcAft>
                <a:spcPts val="600"/>
              </a:spcAft>
              <a:defRPr b="1" sz="1100">
                <a:solidFill>
                  <a:srgbClr val="64748B"/>
                </a:solidFill>
              </a:defRPr>
            </a:pPr>
            <a:r>
              <a:t>Web Micro-Framework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Provides routing, request handling, session control, flash alerts, and RESTful endpoints for the scheduling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SQLite &amp; SQLAlchemy</a:t>
            </a:r>
          </a:p>
          <a:p>
            <a:pPr>
              <a:spcAft>
                <a:spcPts val="600"/>
              </a:spcAft>
              <a:defRPr b="1" sz="1100">
                <a:solidFill>
                  <a:srgbClr val="64748B"/>
                </a:solidFill>
              </a:defRPr>
            </a:pPr>
            <a:r>
              <a:t>Relational Persistence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Maintains 6 tables: products, machines, workers, materials, schedules, and constraints_log with full foreign-key relations.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Bootstrap 5 &amp; Chart.js</a:t>
            </a:r>
          </a:p>
          <a:p>
            <a:pPr>
              <a:spcAft>
                <a:spcPts val="600"/>
              </a:spcAft>
              <a:defRPr b="1" sz="1100">
                <a:solidFill>
                  <a:srgbClr val="64748B"/>
                </a:solidFill>
              </a:defRPr>
            </a:pPr>
            <a:r>
              <a:t>Responsive Frontend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Delivers dashboard KPI cards, utilization progress bars, modal CRUD forms, and Chart.js analytics graphs.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Live Demonstration Scenario &amp; Generated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2194560"/>
                <a:gridCol w="1828800"/>
                <a:gridCol w="1645920"/>
                <a:gridCol w="1005840"/>
                <a:gridCol w="1036015"/>
              </a:tblGrid>
              <a:tr h="51206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Assigned Machine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Assigned Worker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Time Slot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Laptop Assembly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Precision Assembly Station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Worker A (Alice)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08:00 – 10:00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Chair Manufacturing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High-Speed CNC Cutter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Worker B (Bob)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08:00 – 10:00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Table Manufacturing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Automated Drilling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Worker C (Charlie)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08:00 – 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Electronic Controller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Precision Assembly Station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Worker D (Diana)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10:00 – 12:00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389120"/>
            <a:ext cx="10728655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10B981"/>
                </a:solidFill>
              </a:defRPr>
            </a:pPr>
            <a:r>
              <a:t>CSP Solver Performance Metrics (Real Live Run)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Variables (N): 4  |  Initial Domain Space: 44 combinations  |  Assignments Tried: 4  |  Backtracks: 0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Constraints Evaluated: 40  |  Solve Time: ~2.5 ms  |  Solution Found: YES  |  Conflicts: 0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• Key Observation: Electronic Controller automatically delayed to 10:00 to prevent machine overlap with Laptop Assembly.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Dynamic Rescheduling &amp; Disruption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DC2626"/>
                </a:solidFill>
              </a:defRPr>
            </a:pPr>
            <a:r>
              <a:t>Scenario: Machine Maintenance Event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In factory operations, breakdowns and scheduled servicing are inevitable.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The user toggles Precision Assembly Station status to 'Maintenance'.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Constraint #9 (Machine Active Status) immediately excludes this machine from all variable domains during domain generation.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User clicks 'Regenerate Schedule' on the AI Planner.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600">
                <a:solidFill>
                  <a:srgbClr val="10B981"/>
                </a:solidFill>
              </a:defRPr>
            </a:pPr>
            <a:r>
              <a:t>AI Reaction: Conflict Diagnostics &amp; Advice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Instead of returning a generic error, the CSP engine performs root-cause diagnostic analysis.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Identified Conflict:</a:t>
            </a:r>
            <a:br/>
            <a:r>
              <a:t>  'No available machine found of required type Assembly.'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AI Remediation Suggestion:</a:t>
            </a:r>
            <a:br/>
            <a:r>
              <a:t>  'Check machine maintenance statuses and restore at least one machine to Available.'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Demonstrates complete operational transparency for viva examiners.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Quantitative Resource Utilization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2563EB"/>
                </a:solidFill>
              </a:defRPr>
            </a:pPr>
            <a:r>
              <a:t>Machine Capacity Load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Precision Assembly Station: 4.0h used / 8.0h avail = 50.0% utilization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High-Speed CNC Cutter: 2.0h used / 8.0h avail = 25.0% utilization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Automated Drilling Unit: 3.0h used / 8.0h avail = 37.5% utilization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Overall Machine Plant Utilization: 37.5%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2563EB"/>
                </a:solidFill>
              </a:defRPr>
            </a:pPr>
            <a:r>
              <a:t>Worker Shift Allocation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Worker A (Alice): 2.0h used / 8.0h shift = 25.0% utilization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Worker B (Bob): 2.0h used / 8.0h shift = 25.0% utilization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Worker C (Charlie): 3.0h used / 8.0h shift = 37.5% utilization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Worker D (Diana): 2.0h used / 8.0h shift = 25.0% utilization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500">
                <a:solidFill>
                  <a:srgbClr val="2563EB"/>
                </a:solidFill>
              </a:defRPr>
            </a:pPr>
            <a:r>
              <a:t>Visual Reporting &amp; Export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Real-time Bar Charts for Machine and Worker loads via Chart.js.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Pie charts displaying production job distribution by product family.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One-click printable dispatch report and instant CSV file export.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ARTIFICIAL INTELLIGENCE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DC2626"/>
                </a:solidFill>
              </a:defRPr>
            </a:pPr>
            <a:r>
              <a:t>Current Academic Limitations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Deterministic Processing Times: Assumes task durations are strictly fixed rather than stochastic or variable.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Discrete 1-Hour Time Slots: Configured for discrete hourly windows across single daily shifts (08:00-17:00).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Static 1:1 Operator Coupling: Assumes each job requires exactly one operator per machine station.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Isolated Factory Floor: Does not account for inter-facility shipping delays or multi-site supply chain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b="1" sz="1800">
                <a:solidFill>
                  <a:srgbClr val="10B981"/>
                </a:solidFill>
              </a:defRPr>
            </a:pPr>
            <a:r>
              <a:t>Future Research &amp; Expansion Scope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Genetic Algorithms (GA): Hybridizing CSP with evolutionary algorithms for multi-objective optimization (minimizing makespan vs energy cost).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Machine Learning Predictive Maintenance: Leveraging ML models to forecast equipment failures before scheduling.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IoT Real-Time Shopfloor Feedback: Integrating RFID and PLC sensor streams to trigger live autonomous rescheduling.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Multi-Skill Matrix: Extending skill constraints to graded proficiency scores and cross-trained multi-operator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6B6D4"/>
                </a:solidFill>
              </a:defRPr>
            </a:pPr>
            <a:r>
              <a:t>PROJECT DEFENSE SUMMARY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Successfully Implemented AI Production Planning using CSP</a:t>
            </a:r>
          </a:p>
          <a:p>
            <a:pPr>
              <a:spcAft>
                <a:spcPts val="3000"/>
              </a:spcAft>
              <a:defRPr sz="1400">
                <a:solidFill>
                  <a:srgbClr val="CBD5E1"/>
                </a:solidFill>
              </a:defRPr>
            </a:pPr>
            <a:r>
              <a:t>✓ Formal mathematical CSP model (&lt;X, D, C&gt;) with 10 Hard Constraints</a:t>
            </a:r>
            <a:br/>
            <a:r>
              <a:t>✓ Python Recursive Backtracking with MRV Heuristic and Forward Checking</a:t>
            </a:r>
            <a:br/>
            <a:r>
              <a:t>✓ 100% Conflict-free production scheduling with Explainable AI justifications</a:t>
            </a:r>
            <a:br/>
            <a:r>
              <a:t>✓ Full CRUD, dynamic rescheduling on breakdowns, and comprehensive test suite</a:t>
            </a: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Thank You!  •  Questions &amp; Viva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